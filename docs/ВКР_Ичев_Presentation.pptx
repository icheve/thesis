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514807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1F3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ACCEE"/>
                </a:solidFill>
              </a:rPr>
              <a:t>НИУ ВШЭ · Факультет компьютерных наук · Аналитика больших данных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</a:rPr>
              <a:t>Разработка нагруженного в режиме близкого
к реальному времени конвейера данных
поставки платёжной информации,
с сохранением истории платежей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74320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CCDDEE"/>
                </a:solidFill>
              </a:rPr>
              <a:t>Выпускная квалификационная работа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29184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BCCDD"/>
                </a:solidFill>
              </a:rPr>
              <a:t>Студент: Ичев
Программа: Аналитика больших 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329184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BCCDD"/>
                </a:solidFill>
              </a:rPr>
              <a:t>Москва,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514600"/>
            <a:ext cx="8412480" cy="3657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1F3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91440"/>
            <a:ext cx="8778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Содержание презентации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371600"/>
            <a:ext cx="42976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444444"/>
                </a:solidFill>
              </a:rPr>
              <a:t>1. Постановка задачи и мотивация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444444"/>
                </a:solidFill>
              </a:rPr>
              <a:t>2. Обзор литературы и аналоги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444444"/>
                </a:solidFill>
              </a:rPr>
              <a:t>3. Архитектурные решения (ADR)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444444"/>
                </a:solidFill>
              </a:rPr>
              <a:t>4. Технологический стек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444444"/>
                </a:solidFill>
              </a:rPr>
              <a:t>5. Схема потоков данных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63440" y="1371600"/>
            <a:ext cx="42976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444444"/>
                </a:solidFill>
              </a:rPr>
              <a:t>6. Реализация: ключевые операторы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444444"/>
                </a:solidFill>
              </a:rPr>
              <a:t>7. Хранение истории (SCD Type 2)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444444"/>
                </a:solidFill>
              </a:rPr>
              <a:t>8. Качество данных и мониторинг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444444"/>
                </a:solidFill>
              </a:rPr>
              <a:t>9. Тестирование и результаты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444444"/>
                </a:solidFill>
              </a:rPr>
              <a:t>10. Заключение и выводы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1F3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91440"/>
            <a:ext cx="8778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Постановка задачи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822960"/>
            <a:ext cx="8778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EE"/>
                </a:solidFill>
              </a:rPr>
              <a:t>Почему batch ETL недостаточен?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4206240" cy="3383280"/>
          </a:xfrm>
          <a:prstGeom prst="rect">
            <a:avLst/>
          </a:prstGeom>
          <a:solidFill>
            <a:srgbClr val="FDEDEC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0392B"/>
                </a:solidFill>
              </a:rPr>
              <a:t>❌  Проблема (Batch ETL)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828800"/>
            <a:ext cx="40233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444444"/>
                </a:solidFill>
              </a:rPr>
              <a:t>• Задержка 1–12 часов (ночные загрузки)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444444"/>
                </a:solidFill>
              </a:rPr>
              <a:t>• Антифрод не работает в реальном времени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444444"/>
                </a:solidFill>
              </a:rPr>
              <a:t>• Регуляторная отчётность не оперативна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444444"/>
                </a:solidFill>
              </a:rPr>
              <a:t>• История изменений перезаписывается (SCD1)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444444"/>
                </a:solidFill>
              </a:rPr>
              <a:t>• Нет point-in-time восстановления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371600"/>
            <a:ext cx="4206240" cy="3383280"/>
          </a:xfrm>
          <a:prstGeom prst="rect">
            <a:avLst/>
          </a:prstGeom>
          <a:solidFill>
            <a:srgbClr val="EAF5EA"/>
          </a:solidFill>
          <a:ln>
            <a:solidFill>
              <a:srgbClr val="1787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141732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7873E"/>
                </a:solidFill>
              </a:rPr>
              <a:t>✅  Цель (NRT Pipeline)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828800"/>
            <a:ext cx="40233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444444"/>
                </a:solidFill>
              </a:rPr>
              <a:t>• Задержка p99 ≤ 30 секунд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444444"/>
                </a:solidFill>
              </a:rPr>
              <a:t>• Поток событий → аналитика в секундах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444444"/>
                </a:solidFill>
              </a:rPr>
              <a:t>• Полная история изменений (SCD Type 2)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444444"/>
                </a:solidFill>
              </a:rPr>
              <a:t>• Point-in-time запросы для аудита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444444"/>
                </a:solidFill>
              </a:rPr>
              <a:t>• Идемпотентность: effectively-exactly-once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1F3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91440"/>
            <a:ext cx="8778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Обзор литературы и аналоги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822960"/>
            <a:ext cx="8778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EE"/>
                </a:solidFill>
              </a:rPr>
              <a:t>15 источников: IEEE, VLDB, ACM, arXiv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" y="1371600"/>
          <a:ext cx="8778240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4389120"/>
              </a:tblGrid>
              <a:tr h="374903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Источник / Аналог</a:t>
                      </a:r>
                    </a:p>
                  </a:txBody>
                  <a:tcPr>
                    <a:solidFill>
                      <a:srgbClr val="1F39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Стек</a:t>
                      </a:r>
                    </a:p>
                  </a:txBody>
                  <a:tcPr>
                    <a:solidFill>
                      <a:srgbClr val="1F39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Отличие данной работы</a:t>
                      </a:r>
                    </a:p>
                  </a:txBody>
                  <a:tcPr>
                    <a:solidFill>
                      <a:srgbClr val="1F396E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Huang &amp; Zhongming (2024)</a:t>
                      </a:r>
                    </a:p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NRT pipeline, CDC, финтех</a:t>
                      </a:r>
                    </a:p>
                  </a:txBody>
                  <a:tcPr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Debezium→Kafka→Kafka Streams→ClickHouse</a:t>
                      </a:r>
                    </a:p>
                  </a:txBody>
                  <a:tcPr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Flink вместо Kafka Streams, SCD2, дедупликация L1-L3</a:t>
                      </a:r>
                    </a:p>
                  </a:txBody>
                  <a:tcPr>
                    <a:solidFill>
                      <a:srgbClr val="E8F0FB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Saket et al. (2024)</a:t>
                      </a:r>
                    </a:p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Kafka+Flink, рекламные события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Kafka + Flink + Avro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Фокус на join; SCD2-история не рассматривалась</a:t>
                      </a:r>
                    </a:p>
                  </a:txBody>
                  <a:tcPr/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Kovalenko (2026)</a:t>
                      </a:r>
                    </a:p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CDC платёжные системы</a:t>
                      </a:r>
                    </a:p>
                  </a:txBody>
                  <a:tcPr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PostgreSQL+Debezium+Kafka</a:t>
                      </a:r>
                    </a:p>
                  </a:txBody>
                  <a:tcPr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Нет слоя трансформации и аналитического хранения</a:t>
                      </a:r>
                    </a:p>
                  </a:txBody>
                  <a:tcPr>
                    <a:solidFill>
                      <a:srgbClr val="E8F0FB"/>
                    </a:solidFill>
                  </a:tcPr>
                </a:tc>
              </a:tr>
              <a:tr h="374907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Zhang et al. (2025)</a:t>
                      </a:r>
                    </a:p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Streaming View, Alibaba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Flink + MaxCompute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Проприетарный стек; данная работа — open-source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82880" y="4297680"/>
            <a:ext cx="8778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E75B6"/>
                </a:solidFill>
              </a:rPr>
              <a:t>Вывод: данная работа объединяет stateful SCD2 + трёхуровневую дедупликацию в open-source стеке для платёжного контекста — ранее в литературе в сочетании не описывалось.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1F3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91440"/>
            <a:ext cx="8778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Архитектурные решения (ADR)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822960"/>
            <a:ext cx="8778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EE"/>
                </a:solidFill>
              </a:rPr>
              <a:t>4 ключевых решения с обоснованием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371600"/>
            <a:ext cx="8778240" cy="804672"/>
          </a:xfrm>
          <a:prstGeom prst="rect">
            <a:avLst/>
          </a:prstGeom>
          <a:solidFill>
            <a:srgbClr val="F2F2F2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4173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75B6"/>
                </a:solidFill>
              </a:rPr>
              <a:t>ADR-001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4173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396E"/>
                </a:solidFill>
              </a:rPr>
              <a:t>Kappa vs Lambda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1417320"/>
            <a:ext cx="5486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Kappa — единый поток. Lambda избыточна: replay из Kafka заменяет batch-слой. Снижение сложности.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2267712"/>
            <a:ext cx="8778240" cy="80467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231343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75B6"/>
                </a:solidFill>
              </a:rPr>
              <a:t>ADR-002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31343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396E"/>
                </a:solidFill>
              </a:rPr>
              <a:t>Flink vs Spark 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313432"/>
            <a:ext cx="5486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Flink: KeyedProcessFunction + hashmap state (прототип) / RocksDB (prod-расширение). Spark SS: micro-batch, сложнее для event-time.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" y="3163824"/>
            <a:ext cx="8778240" cy="804672"/>
          </a:xfrm>
          <a:prstGeom prst="rect">
            <a:avLst/>
          </a:prstGeom>
          <a:solidFill>
            <a:srgbClr val="F2F2F2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3209544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75B6"/>
                </a:solidFill>
              </a:rPr>
              <a:t>ADR-003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209544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396E"/>
                </a:solidFill>
              </a:rPr>
              <a:t>SCD2 + Append Log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3209544"/>
            <a:ext cx="5486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payment_history (ReplacingMergeTree(processed_at), аудит) + payment_current (ReplacingMergeTree, быстрые запросы).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4059935"/>
            <a:ext cx="8778240" cy="80467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4105655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75B6"/>
                </a:solidFill>
              </a:rPr>
              <a:t>ADR-004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105655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396E"/>
                </a:solidFill>
              </a:rPr>
              <a:t>Дедупликация L1-L2-L3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4105655"/>
            <a:ext cx="5486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Kafka idempotent + Flink MapState TTL24h + SHA-256 field_hash (L2) + ReplacingMergeTree для payment_current (L3) = effectively-exactly-once.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1F3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91440"/>
            <a:ext cx="8778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Технологический стек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" y="1371600"/>
            <a:ext cx="2834640" cy="1600200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" y="1371600"/>
            <a:ext cx="73152" cy="16002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46304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75B6"/>
                </a:solidFill>
              </a:rPr>
              <a:t>Apache Kafka 3.x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874519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96E"/>
                </a:solidFill>
              </a:rPr>
              <a:t>Брокер сообщений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2194560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payments.raw 12p/3дн, processed 6p/1дн, dlq+late 2p/30дн; Schema Registry (Avro — prod-расширение)</a:t>
            </a:r>
          </a:p>
        </p:txBody>
      </p:sp>
      <p:sp>
        <p:nvSpPr>
          <p:cNvPr id="9" name="Rectangle 8"/>
          <p:cNvSpPr/>
          <p:nvPr/>
        </p:nvSpPr>
        <p:spPr>
          <a:xfrm>
            <a:off x="3154680" y="1371600"/>
            <a:ext cx="2834640" cy="1600200"/>
          </a:xfrm>
          <a:prstGeom prst="rect">
            <a:avLst/>
          </a:prstGeom>
          <a:solidFill>
            <a:srgbClr val="F2F2F2"/>
          </a:solidFill>
          <a:ln>
            <a:solidFill>
              <a:srgbClr val="1787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154680" y="1371600"/>
            <a:ext cx="73152" cy="1600200"/>
          </a:xfrm>
          <a:prstGeom prst="rect">
            <a:avLst/>
          </a:prstGeom>
          <a:solidFill>
            <a:srgbClr val="178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0" y="146304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7873E"/>
                </a:solidFill>
              </a:rPr>
              <a:t>Apache Flink 1.19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1874519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96E"/>
                </a:solidFill>
              </a:rPr>
              <a:t>Потоковая обработка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194560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DataStream API, hashmap backend (dev), Checkpoint 30 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2834640" cy="1600200"/>
          </a:xfrm>
          <a:prstGeom prst="rect">
            <a:avLst/>
          </a:prstGeom>
          <a:solidFill>
            <a:srgbClr val="F2F2F2"/>
          </a:solidFill>
          <a:ln>
            <a:solidFill>
              <a:srgbClr val="E0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1371600"/>
            <a:ext cx="73152" cy="1600200"/>
          </a:xfrm>
          <a:prstGeom prst="rect">
            <a:avLst/>
          </a:prstGeom>
          <a:solidFill>
            <a:srgbClr val="E0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46304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06C00"/>
                </a:solidFill>
              </a:rPr>
              <a:t>ClickHouse 24.x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1874519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96E"/>
                </a:solidFill>
              </a:rPr>
              <a:t>Аналитическое хранилище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194560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ReplacingMergeTree + MergeTree, векторизация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880" y="3200400"/>
            <a:ext cx="2834640" cy="1600200"/>
          </a:xfrm>
          <a:prstGeom prst="rect">
            <a:avLst/>
          </a:prstGeom>
          <a:solidFill>
            <a:srgbClr val="F2F2F2"/>
          </a:solidFill>
          <a:ln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2880" y="3200400"/>
            <a:ext cx="73152" cy="160020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329184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E44AD"/>
                </a:solidFill>
              </a:rPr>
              <a:t>Debezium / Kafka Producer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" y="37033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96E"/>
                </a:solidFill>
              </a:rPr>
              <a:t>Источник данных (CDC)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" y="4023360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WAL → Kafka, задержка 30–250 мс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154680" y="3200400"/>
            <a:ext cx="2834640" cy="1600200"/>
          </a:xfrm>
          <a:prstGeom prst="rect">
            <a:avLst/>
          </a:prstGeom>
          <a:solidFill>
            <a:srgbClr val="F2F2F2"/>
          </a:solidFill>
          <a:ln>
            <a:solidFill>
              <a:srgbClr val="1679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154680" y="3200400"/>
            <a:ext cx="73152" cy="1600200"/>
          </a:xfrm>
          <a:prstGeom prst="rect">
            <a:avLst/>
          </a:prstGeom>
          <a:solidFill>
            <a:srgbClr val="167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0" y="329184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795E"/>
                </a:solidFill>
              </a:rPr>
              <a:t>Prometheus + Grafana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7033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96E"/>
                </a:solidFill>
              </a:rPr>
              <a:t>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1840" y="4023360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JMX exporter, алерты, e2e latency dashboard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3200400"/>
            <a:ext cx="2834640" cy="1600200"/>
          </a:xfrm>
          <a:prstGeom prst="rect">
            <a:avLst/>
          </a:prstGeom>
          <a:solidFill>
            <a:srgbClr val="F2F2F2"/>
          </a:solidFill>
          <a:ln>
            <a:solidFill>
              <a:srgbClr val="1F3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6480" y="3200400"/>
            <a:ext cx="73152" cy="1600200"/>
          </a:xfrm>
          <a:prstGeom prst="rect">
            <a:avLst/>
          </a:prstGeom>
          <a:solidFill>
            <a:srgbClr val="1F3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29184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96E"/>
                </a:solidFill>
              </a:rPr>
              <a:t>Docker Compose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37033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96E"/>
                </a:solidFill>
              </a:rPr>
              <a:t>Оркестрация стенда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4023360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Flink JobManager/TaskManager, Kafka, ZooKeeper, CH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1F3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91440"/>
            <a:ext cx="8778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Схема потоков данных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" y="1463040"/>
            <a:ext cx="1371600" cy="100584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508760"/>
            <a:ext cx="1280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Источник
(CDC /
Kafka Producer)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901952"/>
            <a:ext cx="228600" cy="128016"/>
          </a:xfrm>
          <a:prstGeom prst="rect">
            <a:avLst/>
          </a:prstGeom>
          <a:solidFill>
            <a:srgbClr val="1F3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0" y="1463040"/>
            <a:ext cx="1371600" cy="10058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4519" y="1508760"/>
            <a:ext cx="1280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payments
.raw
(Kafka)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18688" y="1901952"/>
            <a:ext cx="228600" cy="128016"/>
          </a:xfrm>
          <a:prstGeom prst="rect">
            <a:avLst/>
          </a:prstGeom>
          <a:solidFill>
            <a:srgbClr val="1F3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91840" y="1463040"/>
            <a:ext cx="1371600" cy="1005840"/>
          </a:xfrm>
          <a:prstGeom prst="rect">
            <a:avLst/>
          </a:prstGeom>
          <a:solidFill>
            <a:srgbClr val="178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508760"/>
            <a:ext cx="1280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Validator
(Flink)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1727" y="1901952"/>
            <a:ext cx="228600" cy="128016"/>
          </a:xfrm>
          <a:prstGeom prst="rect">
            <a:avLst/>
          </a:prstGeom>
          <a:solidFill>
            <a:srgbClr val="1F3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63440" y="1463040"/>
            <a:ext cx="1371600" cy="1005840"/>
          </a:xfrm>
          <a:prstGeom prst="rect">
            <a:avLst/>
          </a:prstGeom>
          <a:solidFill>
            <a:srgbClr val="178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59" y="1508760"/>
            <a:ext cx="1280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Enricher
(Flink)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53327" y="1901952"/>
            <a:ext cx="228600" cy="128016"/>
          </a:xfrm>
          <a:prstGeom prst="rect">
            <a:avLst/>
          </a:prstGeom>
          <a:solidFill>
            <a:srgbClr val="1F3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35040" y="1463040"/>
            <a:ext cx="1371600" cy="1005840"/>
          </a:xfrm>
          <a:prstGeom prst="rect">
            <a:avLst/>
          </a:prstGeom>
          <a:solidFill>
            <a:srgbClr val="E87E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80759" y="1508760"/>
            <a:ext cx="1280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ScdMerger
(Flink,
stateful)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24927" y="1901952"/>
            <a:ext cx="228600" cy="128016"/>
          </a:xfrm>
          <a:prstGeom prst="rect">
            <a:avLst/>
          </a:prstGeom>
          <a:solidFill>
            <a:srgbClr val="1F3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589520" y="1463040"/>
            <a:ext cx="1371600" cy="1005840"/>
          </a:xfrm>
          <a:prstGeom prst="rect">
            <a:avLst/>
          </a:prstGeom>
          <a:solidFill>
            <a:srgbClr val="E0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35240" y="1508760"/>
            <a:ext cx="1280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ClickHouse
payment_history
payment_current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26060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0392B"/>
                </a:solidFill>
              </a:rPr>
              <a:t>↓ DLQ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91840" y="2971800"/>
            <a:ext cx="1371600" cy="502920"/>
          </a:xfrm>
          <a:prstGeom prst="rect">
            <a:avLst/>
          </a:prstGeom>
          <a:solidFill>
            <a:srgbClr val="FDEDEC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560" y="2999232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0392B"/>
                </a:solidFill>
              </a:rPr>
              <a:t>payments.dlq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26060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5B6"/>
                </a:solidFill>
              </a:rPr>
              <a:t>↓ Downstream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2971800"/>
            <a:ext cx="1371600" cy="502920"/>
          </a:xfrm>
          <a:prstGeom prst="rect">
            <a:avLst/>
          </a:prstGeom>
          <a:solidFill>
            <a:srgbClr val="EAF5FB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80760" y="2999232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E75B6"/>
                </a:solidFill>
              </a:rPr>
              <a:t>payments.processed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" y="4023360"/>
            <a:ext cx="8778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Ключ партиционирования: payment_id — все события одного платежа в одну партицию.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1F3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91440"/>
            <a:ext cx="8778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Реализация: ключевые операторы Flink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822960"/>
            <a:ext cx="8778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EE"/>
                </a:solidFill>
              </a:rPr>
              <a:t>Python / PyFlink 1.19 · DataStream API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371600"/>
            <a:ext cx="877824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408176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ValidatorOperator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408176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DDEEFF"/>
                </a:solidFill>
              </a:rPr>
              <a:t>stateless flatMap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755648"/>
            <a:ext cx="8595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6 структурных правил (NOT_NULL, VALID_CURRENCY, POSITIVE_AMOUNT…)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Нарушение → DLQ с кодом ошибки (E001–E006)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Метрика: validation_errors_total по типу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2606040"/>
            <a:ext cx="8778240" cy="347472"/>
          </a:xfrm>
          <a:prstGeom prst="rect">
            <a:avLst/>
          </a:prstGeom>
          <a:solidFill>
            <a:srgbClr val="178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2642616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EnricherOperator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642616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DDEEFF"/>
                </a:solidFill>
              </a:rPr>
              <a:t>stateless map + async lookup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990088"/>
            <a:ext cx="8595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Нормализация суммы к RUB по курсу на moment event_ts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Маппинг статуса источника → внутренняя номенклатура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Обогащение merchant_name, merchant_category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" y="3840480"/>
            <a:ext cx="8778240" cy="347472"/>
          </a:xfrm>
          <a:prstGeom prst="rect">
            <a:avLst/>
          </a:prstGeom>
          <a:solidFill>
            <a:srgbClr val="1F3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3877056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ScdMergerOperator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877056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DDEEFF"/>
                </a:solidFill>
              </a:rPr>
              <a:t>stateful KeyedProcessFunction (hashmap state)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4224528"/>
            <a:ext cx="8595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Ключ: payment_id + source_system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Контентный хэш → если нет изменений: skip (дедупликация L2)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44444"/>
                </a:solidFill>
              </a:rPr>
              <a:t>• Новая версия: version++, effective_from=event_ts, закрыть предыдущую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1F3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91440"/>
            <a:ext cx="8778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Хранение истории: SCD Type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822960"/>
            <a:ext cx="8778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EE"/>
                </a:solidFill>
              </a:rPr>
              <a:t>payment_history (ReplacingMergeTree(processed_at)) + payment_current (ReplacingMergeTree)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1371600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96E"/>
                </a:solidFill>
              </a:rPr>
              <a:t>Пример: жизненный цикл платежа PAY-001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82880" y="1828800"/>
          <a:ext cx="8778239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6736"/>
                <a:gridCol w="877824"/>
                <a:gridCol w="1316736"/>
                <a:gridCol w="1580083"/>
                <a:gridCol w="1755648"/>
                <a:gridCol w="1931212"/>
              </a:tblGrid>
              <a:tr h="374903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payment_id</a:t>
                      </a:r>
                    </a:p>
                  </a:txBody>
                  <a:tcPr>
                    <a:solidFill>
                      <a:srgbClr val="1F39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version</a:t>
                      </a:r>
                    </a:p>
                  </a:txBody>
                  <a:tcPr>
                    <a:solidFill>
                      <a:srgbClr val="1F39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event_type</a:t>
                      </a:r>
                    </a:p>
                  </a:txBody>
                  <a:tcPr>
                    <a:solidFill>
                      <a:srgbClr val="1F39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status_normalized</a:t>
                      </a:r>
                    </a:p>
                  </a:txBody>
                  <a:tcPr>
                    <a:solidFill>
                      <a:srgbClr val="1F39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effective_from</a:t>
                      </a:r>
                    </a:p>
                  </a:txBody>
                  <a:tcPr>
                    <a:solidFill>
                      <a:srgbClr val="1F39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effective_to</a:t>
                      </a:r>
                    </a:p>
                  </a:txBody>
                  <a:tcPr>
                    <a:solidFill>
                      <a:srgbClr val="1F396E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PAY-001</a:t>
                      </a:r>
                    </a:p>
                  </a:txBody>
                  <a:tcPr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CREATED</a:t>
                      </a:r>
                    </a:p>
                  </a:txBody>
                  <a:tcPr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PENDING</a:t>
                      </a:r>
                    </a:p>
                  </a:txBody>
                  <a:tcPr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10:00:00.000</a:t>
                      </a:r>
                    </a:p>
                  </a:txBody>
                  <a:tcPr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10:00:03.000</a:t>
                      </a:r>
                    </a:p>
                  </a:txBody>
                  <a:tcPr>
                    <a:solidFill>
                      <a:srgbClr val="E8F0FB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PAY-001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AUTHORIZED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AUTHORIZED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10:00:03.000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10:05:00.000</a:t>
                      </a:r>
                    </a:p>
                  </a:txBody>
                  <a:tcPr/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PAY-001</a:t>
                      </a:r>
                    </a:p>
                  </a:txBody>
                  <a:tcPr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CLEARED</a:t>
                      </a:r>
                    </a:p>
                  </a:txBody>
                  <a:tcPr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COMPLETED</a:t>
                      </a:r>
                    </a:p>
                  </a:txBody>
                  <a:tcPr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10:05:00.000</a:t>
                      </a:r>
                    </a:p>
                  </a:txBody>
                  <a:tcPr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11:30:00.000</a:t>
                      </a:r>
                    </a:p>
                  </a:txBody>
                  <a:tcPr>
                    <a:solidFill>
                      <a:srgbClr val="E8F0FB"/>
                    </a:solidFill>
                  </a:tcPr>
                </a:tc>
              </a:tr>
              <a:tr h="374907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PAY-001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REFUNDED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REFUNDED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11:30:00.000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NULL ← текущая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82880" y="3840480"/>
            <a:ext cx="8778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Point-in-time запрос: SELECT * FROM payment_history WHERE payment_id='PAY-001' AND effective_from &lt;= '10:02:00' AND (effective_to &gt; '10:02:00' OR effective_to IS NULL)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" y="4343400"/>
            <a:ext cx="4206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7873E"/>
                </a:solidFill>
              </a:rPr>
              <a:t>💡  payment_history — источник истины для аудита и replay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434340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87E1B"/>
                </a:solidFill>
              </a:rPr>
              <a:t>⚡  payment_current — быстрые аналитические запросы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1F3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91440"/>
            <a:ext cx="8778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Качество данных и мониторинг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822960"/>
            <a:ext cx="8778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EE"/>
                </a:solidFill>
              </a:rPr>
              <a:t>3-уровневые DQ-проверки + Prometheus + Grafana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1371600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96E"/>
                </a:solidFill>
              </a:rPr>
              <a:t>Трёхуровневая система DQ-проверок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82880" y="1783080"/>
          <a:ext cx="8778238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6043"/>
                <a:gridCol w="2793076"/>
                <a:gridCol w="2394065"/>
                <a:gridCol w="1995054"/>
              </a:tblGrid>
              <a:tr h="388620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Уровень</a:t>
                      </a:r>
                    </a:p>
                  </a:txBody>
                  <a:tcPr>
                    <a:solidFill>
                      <a:srgbClr val="1F39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Где</a:t>
                      </a:r>
                    </a:p>
                  </a:txBody>
                  <a:tcPr>
                    <a:solidFill>
                      <a:srgbClr val="1F39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Тип</a:t>
                      </a:r>
                    </a:p>
                  </a:txBody>
                  <a:tcPr>
                    <a:solidFill>
                      <a:srgbClr val="1F39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Реакция</a:t>
                      </a:r>
                    </a:p>
                  </a:txBody>
                  <a:tcPr>
                    <a:solidFill>
                      <a:srgbClr val="1F396E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L1 — Схема</a:t>
                      </a:r>
                    </a:p>
                  </a:txBody>
                  <a:tcPr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Flink ValidatorOperator (real-time)</a:t>
                      </a:r>
                    </a:p>
                  </a:txBody>
                  <a:tcPr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NOT_NULL, диапазоны, ISO 4217</a:t>
                      </a:r>
                    </a:p>
                  </a:txBody>
                  <a:tcPr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DLQ с кодом ошибки</a:t>
                      </a:r>
                    </a:p>
                  </a:txBody>
                  <a:tcPr>
                    <a:solidFill>
                      <a:srgbClr val="E8F0FB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L2 — Бизнес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Flink EnricherOperator (real-time)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Справочная целостность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Fallback / предупреждение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L3 — Хранилище</a:t>
                      </a:r>
                    </a:p>
                  </a:txBody>
                  <a:tcPr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ClickHouse SQL (каждые 15 мин)</a:t>
                      </a:r>
                    </a:p>
                  </a:txBody>
                  <a:tcPr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Дубли, разрывы версий, перекрытия</a:t>
                      </a:r>
                    </a:p>
                  </a:txBody>
                  <a:tcPr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Алерт + отчёт</a:t>
                      </a:r>
                    </a:p>
                  </a:txBody>
                  <a:tcPr>
                    <a:solidFill>
                      <a:srgbClr val="E8F0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82880" y="3383280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96E"/>
                </a:solidFill>
              </a:rPr>
              <a:t>Алерты Prometheus (alerts.yml)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3794760"/>
            <a:ext cx="8595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444444"/>
                </a:solidFill>
              </a:rPr>
              <a:t>• PipelineHighE2ELatency: gauge &gt; 30 с × 5 мин  →  CRITICAL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444444"/>
                </a:solidFill>
              </a:rPr>
              <a:t>• PipelineConsumerLagHigh: lag &gt; 10 000 × 5 мин  →  WARNING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444444"/>
                </a:solidFill>
              </a:rPr>
              <a:t>• PipelineDLQGrowing: DLQ topic &gt; 0 × 1 мин  →  INFO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444444"/>
                </a:solidFill>
              </a:rPr>
              <a:t>• PipelineFlinkCheckpointSlow: checkpoint &gt; 25 000 ms  →  WARNING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1F3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91440"/>
            <a:ext cx="8778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Тестирование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822960"/>
            <a:ext cx="8778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EE"/>
                </a:solidFill>
              </a:rPr>
              <a:t>10 функциональных + 3 нагрузочных тест-кейса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137160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96E"/>
                </a:solidFill>
              </a:rPr>
              <a:t>Функциональные тесты (Группы A, 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78308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444444"/>
                </a:solidFill>
              </a:rPr>
              <a:t>✅ TC-A01: Новый платёж → ClickHouse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444444"/>
                </a:solidFill>
              </a:rPr>
              <a:t>✅ TC-A02: Смена статуса → SCD2 новая версия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444444"/>
                </a:solidFill>
              </a:rPr>
              <a:t>✅ TC-A03: Дедупликация по event_id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444444"/>
                </a:solidFill>
              </a:rPr>
              <a:t>✅ TC-A04: Невалидная валюта → DLQ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444444"/>
                </a:solidFill>
              </a:rPr>
              <a:t>✅ TC-B01: Полный жизненный цикл (3 статуса)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444444"/>
                </a:solidFill>
              </a:rPr>
              <a:t>✅ TC-B02: Контентная дедупликация (хэш)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444444"/>
                </a:solidFill>
              </a:rPr>
              <a:t>⚠️ TC-B07: Late arrivals (xfail — отключено в Beam runtime)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444444"/>
                </a:solidFill>
              </a:rPr>
              <a:t>⚠️ TC-B07 xfail; 9/10 FR подтверждены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37160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96E"/>
                </a:solidFill>
              </a:rPr>
              <a:t>Нагрузочные тесты (стенд: 16 vCPU, 32 GB)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663440" y="1783080"/>
          <a:ext cx="4297678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3490"/>
                <a:gridCol w="1172094"/>
                <a:gridCol w="1172094"/>
              </a:tblGrid>
              <a:tr h="374903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Нагрузка</a:t>
                      </a:r>
                    </a:p>
                  </a:txBody>
                  <a:tcPr>
                    <a:solidFill>
                      <a:srgbClr val="1F39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p99 (с)</a:t>
                      </a:r>
                    </a:p>
                  </a:txBody>
                  <a:tcPr>
                    <a:solidFill>
                      <a:srgbClr val="1F39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SLA ≤ 30 с</a:t>
                      </a:r>
                    </a:p>
                  </a:txBody>
                  <a:tcPr>
                    <a:solidFill>
                      <a:srgbClr val="1F396E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200 событий/сек</a:t>
                      </a:r>
                    </a:p>
                  </a:txBody>
                  <a:tcPr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6.0 с ¹</a:t>
                      </a:r>
                    </a:p>
                  </a:txBody>
                  <a:tcPr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✅</a:t>
                      </a:r>
                    </a:p>
                  </a:txBody>
                  <a:tcPr>
                    <a:solidFill>
                      <a:srgbClr val="E8F0FB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~480 (eff. capacity)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≤ 30 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✅ Граница</a:t>
                      </a:r>
                    </a:p>
                  </a:txBody>
                  <a:tcPr/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1 000 событий/сек ²</a:t>
                      </a:r>
                    </a:p>
                  </a:txBody>
                  <a:tcPr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95.8 с</a:t>
                      </a:r>
                    </a:p>
                  </a:txBody>
                  <a:tcPr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❌ SLA нарушен</a:t>
                      </a:r>
                    </a:p>
                  </a:txBody>
                  <a:tcPr>
                    <a:solidFill>
                      <a:srgbClr val="E8F0FB"/>
                    </a:solidFill>
                  </a:tcPr>
                </a:tc>
              </a:tr>
              <a:tr h="374907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2 000 событий/сек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58.1 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❌ (буфер)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663440" y="3566160"/>
          <a:ext cx="4297678" cy="12344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3490"/>
                <a:gridCol w="1172094"/>
                <a:gridCol w="1172094"/>
              </a:tblGrid>
              <a:tr h="411479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Параметр</a:t>
                      </a:r>
                    </a:p>
                  </a:txBody>
                  <a:tcPr>
                    <a:solidFill>
                      <a:srgbClr val="1F39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Значение</a:t>
                      </a:r>
                    </a:p>
                  </a:txBody>
                  <a:tcPr>
                    <a:solidFill>
                      <a:srgbClr val="1F39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SLA</a:t>
                      </a:r>
                    </a:p>
                  </a:txBody>
                  <a:tcPr>
                    <a:solidFill>
                      <a:srgbClr val="1F396E"/>
                    </a:solidFill>
                  </a:tcPr>
                </a:tc>
              </a:tr>
              <a:tr h="41147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RTO</a:t>
                      </a:r>
                    </a:p>
                  </a:txBody>
                  <a:tcPr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2 мин 37 с</a:t>
                      </a:r>
                    </a:p>
                  </a:txBody>
                  <a:tcPr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≤ 5 мин ✅</a:t>
                      </a:r>
                    </a:p>
                  </a:txBody>
                  <a:tcPr>
                    <a:solidFill>
                      <a:srgbClr val="E8F0FB"/>
                    </a:solidFill>
                  </a:tcPr>
                </a:tc>
              </a:tr>
              <a:tr h="41148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RPO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0 событий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444"/>
                          </a:solidFill>
                        </a:rPr>
                        <a:t>0 ✅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1F3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91440"/>
            <a:ext cx="8778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Результаты нагрузочного тестирования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822960"/>
            <a:ext cx="8778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EE"/>
                </a:solidFill>
              </a:rPr>
              <a:t>Стенд: 1 машина · 16 vCPU · 32 GB RAM · SSD NVMe · docker compose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371600"/>
            <a:ext cx="2834640" cy="1645920"/>
          </a:xfrm>
          <a:prstGeom prst="rect">
            <a:avLst/>
          </a:prstGeom>
          <a:solidFill>
            <a:srgbClr val="EAF5EA"/>
          </a:solidFill>
          <a:ln>
            <a:solidFill>
              <a:srgbClr val="1787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46304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396E"/>
                </a:solidFill>
              </a:rPr>
              <a:t>p99 latency
(baseline 200 ev/s)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965960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7873E"/>
                </a:solidFill>
              </a:rPr>
              <a:t>6.0 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56032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444444"/>
                </a:solidFill>
              </a:rPr>
              <a:t>SLA ≤ 30 с</a:t>
            </a:r>
          </a:p>
        </p:txBody>
      </p:sp>
      <p:sp>
        <p:nvSpPr>
          <p:cNvPr id="9" name="Rectangle 8"/>
          <p:cNvSpPr/>
          <p:nvPr/>
        </p:nvSpPr>
        <p:spPr>
          <a:xfrm>
            <a:off x="3154680" y="1371600"/>
            <a:ext cx="2834640" cy="1645920"/>
          </a:xfrm>
          <a:prstGeom prst="rect">
            <a:avLst/>
          </a:prstGeom>
          <a:solidFill>
            <a:srgbClr val="EAF5EA"/>
          </a:solidFill>
          <a:ln>
            <a:solidFill>
              <a:srgbClr val="1787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6120" y="146304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396E"/>
                </a:solidFill>
              </a:rPr>
              <a:t>p99 latency
(ramp-пик 1K ev/s)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1965960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7873E"/>
                </a:solidFill>
              </a:rPr>
              <a:t>95.8 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256032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444444"/>
                </a:solidFill>
              </a:rPr>
              <a:t>SLA ≤ 30 с 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371600"/>
            <a:ext cx="2834640" cy="1645920"/>
          </a:xfrm>
          <a:prstGeom prst="rect">
            <a:avLst/>
          </a:prstGeom>
          <a:solidFill>
            <a:srgbClr val="EAF5EA"/>
          </a:solidFill>
          <a:ln>
            <a:solidFill>
              <a:srgbClr val="1787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46304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396E"/>
                </a:solidFill>
              </a:rPr>
              <a:t>DLQ rate
(baseline)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965960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7873E"/>
                </a:solidFill>
              </a:rPr>
              <a:t>0.005%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56032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444444"/>
                </a:solidFill>
              </a:rPr>
              <a:t>SLA &lt; 1%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3200400"/>
            <a:ext cx="2834640" cy="1645920"/>
          </a:xfrm>
          <a:prstGeom prst="rect">
            <a:avLst/>
          </a:prstGeom>
          <a:solidFill>
            <a:srgbClr val="EAF5EA"/>
          </a:solidFill>
          <a:ln>
            <a:solidFill>
              <a:srgbClr val="1787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329184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396E"/>
                </a:solidFill>
              </a:rPr>
              <a:t>Checkpoint
длительность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3794760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7873E"/>
                </a:solidFill>
              </a:rPr>
              <a:t>0.62 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438912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444444"/>
                </a:solidFill>
              </a:rPr>
              <a:t>SLA &lt; 30 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54680" y="3200400"/>
            <a:ext cx="2834640" cy="1645920"/>
          </a:xfrm>
          <a:prstGeom prst="rect">
            <a:avLst/>
          </a:prstGeom>
          <a:solidFill>
            <a:srgbClr val="EAF5EA"/>
          </a:solidFill>
          <a:ln>
            <a:solidFill>
              <a:srgbClr val="1787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46120" y="329184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396E"/>
                </a:solidFill>
              </a:rPr>
              <a:t>Flink JVM Heap
(baseline)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3794760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7873E"/>
                </a:solidFill>
              </a:rPr>
              <a:t>54%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46120" y="438912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444444"/>
                </a:solidFill>
              </a:rPr>
              <a:t>SLA &lt; 80%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80" y="3200400"/>
            <a:ext cx="2834640" cy="1645920"/>
          </a:xfrm>
          <a:prstGeom prst="rect">
            <a:avLst/>
          </a:prstGeom>
          <a:solidFill>
            <a:srgbClr val="EAF5EA"/>
          </a:solidFill>
          <a:ln>
            <a:solidFill>
              <a:srgbClr val="1787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0" y="329184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396E"/>
                </a:solidFill>
              </a:rPr>
              <a:t>RTO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3794760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7873E"/>
                </a:solidFill>
              </a:rPr>
              <a:t>2 мин 37 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438912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444444"/>
                </a:solidFill>
              </a:rPr>
              <a:t>SLA ≤ 5 мин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1F3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91440"/>
            <a:ext cx="8778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Заключение и основные результаты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371600"/>
            <a:ext cx="85953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444444"/>
                </a:solidFill>
              </a:rPr>
              <a:t>1.  Спроектирована NRT-система на Kappa-архитектуре: Kafka + Flink + ClickHouse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444444"/>
                </a:solidFill>
              </a:rPr>
              <a:t>2.  Реализованы 3 оператора Flink: Validator, Enricher, ScdMerger (stateful, hashmap state)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444444"/>
                </a:solidFill>
              </a:rPr>
              <a:t>3.  Трёхуровневая дедупликация (L1 Kafka + L2 Flink MapState + L3 CH ReplacingMergeTree)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444444"/>
                </a:solidFill>
              </a:rPr>
              <a:t>4.  SCD Type 2 + append-only event log → point-in-time запросы, аудит, replay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444444"/>
                </a:solidFill>
              </a:rPr>
              <a:t>5.  Трёхуровневые DQ-проверки (real-time + post-load SQL) + Prometheus/Grafana алерты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444444"/>
                </a:solidFill>
              </a:rPr>
              <a:t>6.  Нагрузочные тесты: p99 = 6.0 с при 200 ev/s (SLA ≤ 30 с); эффективная ёмкость стенда ≈480 ev/s; RTO = 2м37с, RPO = 0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3657600"/>
            <a:ext cx="8778240" cy="1188720"/>
          </a:xfrm>
          <a:prstGeom prst="rect">
            <a:avLst/>
          </a:prstGeom>
          <a:solidFill>
            <a:srgbClr val="F0F4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37033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75B6"/>
                </a:solidFill>
              </a:rPr>
              <a:t>Дальнейшее развитие: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4069080"/>
            <a:ext cx="8595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Avro-сериализация (−85% размер) · S3/MinIO для replay &gt; 30 дней · Schema Registry evolution · Kubernetes + Flink Operator для auto-scaling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1F3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Спасибо за внимание!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CCDDEE"/>
                </a:solidFill>
              </a:rPr>
              <a:t>Разработка NRT-пайплайна платёжных данных с сохранением истории состояний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3200400"/>
            <a:ext cx="5486400" cy="3657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33375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ACCEE"/>
                </a:solidFill>
              </a:rPr>
              <a:t>Ичев · НИУ ВШЭ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